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how to set up a new spraying project (locations + rates) and record daily acre entries. Living document — updated as the app evolves.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done once when a project starts. Phase 2 repeats daily. This deck walks through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Farmer rate = 0% GST Bill of Supply. Client rate = 18% GST Tax Invoice. Total per acre is the sum. Client rate 0 when farmers pay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registers feed each other: Location needs a Client; crop rates need Crops; daily entry needs Pilots assigned to the 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Farmer rate + its bill-to are required. Client rate optional (0 = none). Base rates are the fallback when no crop-specific rate matches.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Resolver order: crop-specific &gt; all-crops default &gt; base. Latest effective_from on/before the entry date wins. Rate change = new dated row, never edit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entry: date + location, one row per spray, crop drives the rate, submit for approval. Pilots must be assigned to the location to 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 posts billable acre entries. Acre Invoicing raises a 0% Bill of Supply for the farmer rate and an 18% Tax Invoice for the client rate; billed acres are stamped to prevent double billing.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Cheat sheet mapping common situations to the exact action. Rate change = new dated row is the one people forget.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mistakes that cause most support questions. The dated-rate rule and pilot-assignment are the top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Living document. Golden rules recap. Updated and re-shared whenever the structure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920240"/>
            <a:ext cx="5120640" cy="5120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3566160"/>
            <a:ext cx="3566160" cy="3566160"/>
          </a:xfrm>
          <a:prstGeom prst="ellipse">
            <a:avLst/>
          </a:prstGeom>
          <a:solidFill>
            <a:srgbClr val="20421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 CLOUD  ·  WORKFLOW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82880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Locations &amp;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Daily Acre Entries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new project goes live — Client, Vendor, Crop and rates — and how the team records spraying every day thereafter.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</a:t>
            </a:r>
            <a:pPr indent="0" marL="0">
              <a:buNone/>
            </a:pPr>
            <a:r>
              <a:rPr lang="en-US" sz="1300" dirty="0">
                <a:solidFill>
                  <a:srgbClr val="9FB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v1.0   ·   30 Jul 2026   ·   updated as the structure evolves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WORKFLOW FITS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picture: two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</a:t>
            </a:r>
            <a:pPr indent="0" marL="0">
              <a:buNone/>
            </a:pPr>
            <a:r>
              <a:rPr lang="en-US" sz="15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project up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6700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Client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3227832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200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Vendor, then its Pilots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758184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7307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Crop(s)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4288536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26110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Location (+ rates)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481888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79145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crop-wise rates (dated)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" y="534924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53218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pilots to the location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72200" y="3566160"/>
            <a:ext cx="502920" cy="457200"/>
          </a:xfrm>
          <a:prstGeom prst="rightArrow">
            <a:avLst/>
          </a:prstGeom>
          <a:solidFill>
            <a:srgbClr val="2C5F2D"/>
          </a:solidFill>
          <a:ln/>
        </p:spPr>
      </p:sp>
      <p:sp>
        <p:nvSpPr>
          <p:cNvPr id="26" name="Shape 24"/>
          <p:cNvSpPr/>
          <p:nvPr/>
        </p:nvSpPr>
        <p:spPr>
          <a:xfrm>
            <a:off x="6720840" y="1554480"/>
            <a:ext cx="48920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494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7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</a:t>
            </a:r>
            <a:pPr indent="0" marL="0">
              <a:buNone/>
            </a:pPr>
            <a:r>
              <a:rPr lang="en-US" sz="15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4944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the work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995160" y="2697480"/>
            <a:ext cx="365760" cy="365760"/>
          </a:xfrm>
          <a:prstGeom prst="ellipse">
            <a:avLst/>
          </a:prstGeom>
          <a:solidFill>
            <a:srgbClr val="C0741B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98080" y="267004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Daily Spray Entry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995160" y="3227832"/>
            <a:ext cx="365760" cy="365760"/>
          </a:xfrm>
          <a:prstGeom prst="ellipse">
            <a:avLst/>
          </a:prstGeom>
          <a:solidFill>
            <a:srgbClr val="C0741B"/>
          </a:solidFill>
          <a:ln/>
        </p:spPr>
      </p:sp>
      <p:sp>
        <p:nvSpPr>
          <p:cNvPr id="33" name="Text 31"/>
          <p:cNvSpPr/>
          <p:nvPr/>
        </p:nvSpPr>
        <p:spPr>
          <a:xfrm>
            <a:off x="699516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98080" y="32004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date &amp; location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995160" y="3758184"/>
            <a:ext cx="365760" cy="365760"/>
          </a:xfrm>
          <a:prstGeom prst="ellipse">
            <a:avLst/>
          </a:prstGeom>
          <a:solidFill>
            <a:srgbClr val="C0741B"/>
          </a:solidFill>
          <a:ln/>
        </p:spPr>
      </p:sp>
      <p:sp>
        <p:nvSpPr>
          <p:cNvPr id="36" name="Text 34"/>
          <p:cNvSpPr/>
          <p:nvPr/>
        </p:nvSpPr>
        <p:spPr>
          <a:xfrm>
            <a:off x="699516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98080" y="373075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auto-fill per crop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6995160" y="4288536"/>
            <a:ext cx="365760" cy="365760"/>
          </a:xfrm>
          <a:prstGeom prst="ellipse">
            <a:avLst/>
          </a:prstGeom>
          <a:solidFill>
            <a:srgbClr val="C0741B"/>
          </a:solidFill>
          <a:ln/>
        </p:spPr>
      </p:sp>
      <p:sp>
        <p:nvSpPr>
          <p:cNvPr id="39" name="Text 37"/>
          <p:cNvSpPr/>
          <p:nvPr/>
        </p:nvSpPr>
        <p:spPr>
          <a:xfrm>
            <a:off x="699516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98080" y="426110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pilot, farmer, acres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995160" y="4818888"/>
            <a:ext cx="365760" cy="365760"/>
          </a:xfrm>
          <a:prstGeom prst="ellipse">
            <a:avLst/>
          </a:prstGeom>
          <a:solidFill>
            <a:srgbClr val="C0741B"/>
          </a:solidFill>
          <a:ln/>
        </p:spPr>
      </p:sp>
      <p:sp>
        <p:nvSpPr>
          <p:cNvPr id="42" name="Text 40"/>
          <p:cNvSpPr/>
          <p:nvPr/>
        </p:nvSpPr>
        <p:spPr>
          <a:xfrm>
            <a:off x="6995160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98080" y="479145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approval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6995160" y="5349240"/>
            <a:ext cx="365760" cy="365760"/>
          </a:xfrm>
          <a:prstGeom prst="ellipse">
            <a:avLst/>
          </a:prstGeom>
          <a:solidFill>
            <a:srgbClr val="C0741B"/>
          </a:solidFill>
          <a:ln/>
        </p:spPr>
      </p:sp>
      <p:sp>
        <p:nvSpPr>
          <p:cNvPr id="45" name="Text 43"/>
          <p:cNvSpPr/>
          <p:nvPr/>
        </p:nvSpPr>
        <p:spPr>
          <a:xfrm>
            <a:off x="699516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498080" y="53218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Acre Invoicing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THAT TRIPS EVERYONE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acre, two rates — billed to different parties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location carries up to TWO per-acre rate components. They are billed separately, on different documents, to (possibly) different clients.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E7F0DE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77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/ acre the farmer pays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Supply  ·  0% GST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“Bill farmer rate to …” = the party invoiced (often an aggregator/mill collecting on the farmers’ behalf).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7ECD9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377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7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/ acre the client subsidises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320040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Invoice  ·  18% GST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expense / subsidy paid by a client (chemical co., sponsor). Leave at 0 when there is no client-side component.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pilot sprays  =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rate  +  Client rate</a:t>
            </a:r>
            <a:pPr indent="0" marL="0">
              <a:buNone/>
            </a:pPr>
            <a:r>
              <a:rPr lang="en-US" sz="15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per acre.   Set Client rate = 0 for farmer-only projects → only a Bill of Supply is raised.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IN ORDER, IN REGISTERS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set up a new project (once)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9300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196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Client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8096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→ Client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" y="27157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location belongs to and who invoices are raised 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61104" y="1600200"/>
            <a:ext cx="349300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62272" y="180136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84064" y="18196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Vendor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48056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→ Vendors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27157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 supplying drones/pilots for this project.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73568" y="1600200"/>
            <a:ext cx="349300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74736" y="180136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174736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96528" y="18196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Pilots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193024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→ Pilots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93024" y="27157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pilot is linked to its Vendor; selected on daily entries.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349300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404164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0599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Crop(s)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68096" y="4663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→ Crops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8096" y="49560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Auto-numbered. Needed before setting crop-specific rates.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61104" y="3840480"/>
            <a:ext cx="349300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62272" y="404164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4462272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84064" y="40599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Location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4480560" y="4663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→ Locations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80560" y="49560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name, state/district + the two base rates &amp; bill-to.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973568" y="3840480"/>
            <a:ext cx="3493008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74736" y="404164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8174736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96528" y="40599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crop rates + pilots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8193024" y="4663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Location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93024" y="49560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Crop-specific dated rates, then assign pilots to the location.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→ LOCATIONS → NEW LOCATION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the Location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Identity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*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location belongs to (+ new client inline)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name *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village / project site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District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across trackers and reports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5257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location (approvers) to freeze details once a project is live.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49240" y="1554480"/>
            <a:ext cx="62636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778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Rates &amp; billing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577840" y="2194560"/>
            <a:ext cx="5806440" cy="1417320"/>
          </a:xfrm>
          <a:prstGeom prst="roundRect">
            <a:avLst>
              <a:gd name="adj" fmla="val 4516"/>
            </a:avLst>
          </a:prstGeom>
          <a:solidFill>
            <a:srgbClr val="E7F0DE"/>
          </a:solidFill>
          <a:ln w="12700">
            <a:solidFill>
              <a:srgbClr val="DDE4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23591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rate (₹/acre)  </a:t>
            </a:r>
            <a:pPr indent="0" marL="0">
              <a:buNone/>
            </a:pPr>
            <a:r>
              <a:rPr lang="en-US" sz="14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Bill farmer rate to *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806440" y="2743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Required. The client this farmer bill goes to.  →  0% GST · Bill of Supply.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3749040"/>
            <a:ext cx="5806440" cy="1463040"/>
          </a:xfrm>
          <a:prstGeom prst="roundRect">
            <a:avLst>
              <a:gd name="adj" fmla="val 4375"/>
            </a:avLst>
          </a:prstGeom>
          <a:solidFill>
            <a:srgbClr val="F7ECD9"/>
          </a:solidFill>
          <a:ln w="12700">
            <a:solidFill>
              <a:srgbClr val="DDE4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9136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7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rate (₹/acre)  </a:t>
            </a:r>
            <a:pPr indent="0" marL="0">
              <a:buNone/>
            </a:pPr>
            <a:r>
              <a:rPr lang="en-US" sz="145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Bill client rate to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806440" y="42976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0 if none. If above 0, choose who it is billed to.  →  18% GST · Tax Invoice.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539496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base rates. Crop-specific rates (next slide) override them.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LOCATION → “CROP-SPECIFIC RATES”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Crop-wise &amp; date-effective rates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row per crop with Farmer ₹, Client ₹ and an Effective-from date. When rates change, DON’T edit or clone — add a NEW row with a later date.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02920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rate is picked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9077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Crop-specific row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32369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row’s crop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767328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crops” default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40782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crop_id = All on the location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608576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5902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base rates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919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Rates &amp; billing fields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486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…always the latest Effective-from that is on or before the entry’s date.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06440" y="2240280"/>
            <a:ext cx="580644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2423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a mid-season rate change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5040" y="2926080"/>
            <a:ext cx="5349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dated 20 Apr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uses ₹350 (the 01 Apr row).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dated 18 May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uses ₹400 + ₹50 (the 15 May row).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April entries keep ₹350 forever — history stays correct, no cloning.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ONCE THE PROJECT IS SET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Daily Spray Entry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65376"/>
            <a:ext cx="475488" cy="475488"/>
          </a:xfrm>
          <a:prstGeom prst="ellipse">
            <a:avLst/>
          </a:prstGeom>
          <a:solidFill>
            <a:srgbClr val="C0741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739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date &amp; location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754880" y="1773936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drives which rate applies; location loads its assigned pilots.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35224"/>
            <a:ext cx="475488" cy="475488"/>
          </a:xfrm>
          <a:prstGeom prst="ellipse">
            <a:avLst/>
          </a:prstGeom>
          <a:solidFill>
            <a:srgbClr val="C0741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35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4378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row per spray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54880" y="2843784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Pilot, Farmer, Contact, Village, Crop, Medicine, Acres, GPS.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85616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05072"/>
            <a:ext cx="475488" cy="475488"/>
          </a:xfrm>
          <a:prstGeom prst="ellipse">
            <a:avLst/>
          </a:prstGeom>
          <a:solidFill>
            <a:srgbClr val="C0741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05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91363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Crop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754880" y="39136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crop auto-fills that row’s Farmer &amp; Client ₹ for the date.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55464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74920"/>
            <a:ext cx="475488" cy="475488"/>
          </a:xfrm>
          <a:prstGeom prst="ellipse">
            <a:avLst/>
          </a:prstGeom>
          <a:solidFill>
            <a:srgbClr val="C0741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74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9834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for approval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754880" y="498348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to Review / Approvals — nothing posts until approved.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if a pilot isn’t in the dropdown, assign them to this location first (Registers → Pilots / on the Location). If a crop is missing, add it under Registers → Crops.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YOU SUBMIT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approval to invoice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01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approver posts the submission in Review / Approvals. Acres become billable entries stamped with the crop &amp; rate.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06240" y="3017520"/>
            <a:ext cx="457200" cy="41148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64592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E7F0DE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of Supply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983480" y="25146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rate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GST. Raised to the “bill farmer rate to” client.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66760" y="1645920"/>
            <a:ext cx="3246120" cy="3108960"/>
          </a:xfrm>
          <a:prstGeom prst="roundRect">
            <a:avLst>
              <a:gd name="adj" fmla="val 2647"/>
            </a:avLst>
          </a:prstGeom>
          <a:solidFill>
            <a:srgbClr val="F7ECD9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0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07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 Invoice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95360" y="251460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rate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GST. Raised to the “bill client rate to” client.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0292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→ Acre Invoicing  </a:t>
            </a:r>
            <a:pPr indent="0" marL="0">
              <a:buNone/>
            </a:pPr>
            <a:r>
              <a:rPr lang="en-US" sz="145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approved acres by client, date and rate. Billed acres are locked so nothing is invoiced twice; crop sub-lines show the split.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what — quick guide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project / new 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Client → Vendor → Pilots → Crops, then create the Location with its rates.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Farmers pay the whole amount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Farmer rate; leave Client rate = 0. Only a Bill of Supply is raised.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sponsor/client subsidises part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both rates and both “bill … to” clients. Two documents are raised.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differs by crop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crop-specific rows under the Location’s Crop-specific rates.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changes mid-season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NEW crop-rate row with the new Effective-from date. Never edit old rows.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pilot joins the 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under Registers → Pilots and assign them to the Location.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YOURSELF THE REWORK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65376"/>
            <a:ext cx="457200" cy="457200"/>
          </a:xfrm>
          <a:prstGeom prst="ellipse">
            <a:avLst/>
          </a:prstGeom>
          <a:solidFill>
            <a:srgbClr val="F7ECD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7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Editing a live rate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17627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an existing rate row rewrites history. Add a dated row instead.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1865376"/>
            <a:ext cx="457200" cy="457200"/>
          </a:xfrm>
          <a:prstGeom prst="ellipse">
            <a:avLst/>
          </a:prstGeom>
          <a:solidFill>
            <a:srgbClr val="F7ECD9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7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49440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Forgetting the client’s bill-to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0" y="217627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Client rate &gt; 0 you must pick who it’s billed to, or the save is blocked.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328416"/>
            <a:ext cx="457200" cy="457200"/>
          </a:xfrm>
          <a:prstGeom prst="ellipse">
            <a:avLst/>
          </a:prstGeom>
          <a:solidFill>
            <a:srgbClr val="F7ECD9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7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3273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missing from the dropdown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63931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must exist in Registers → Crops before they can carry a rate.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6172200" y="310896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3328416"/>
            <a:ext cx="457200" cy="457200"/>
          </a:xfrm>
          <a:prstGeom prst="ellipse">
            <a:avLst/>
          </a:prstGeom>
          <a:solidFill>
            <a:srgbClr val="F7ECD9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7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49440" y="3273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not listed on entry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363931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pilot to that Location; only assigned pilots appear.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791456"/>
            <a:ext cx="457200" cy="457200"/>
          </a:xfrm>
          <a:prstGeom prst="ellipse">
            <a:avLst/>
          </a:prstGeom>
          <a:solidFill>
            <a:srgbClr val="F7ECD9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7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25880" y="4736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Cloning a location for new rates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510235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— dated crop rates handle changes on the same location.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6172200" y="457200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4D6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1C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3368" y="4791456"/>
            <a:ext cx="457200" cy="457200"/>
          </a:xfrm>
          <a:prstGeom prst="ellipse">
            <a:avLst/>
          </a:prstGeom>
          <a:solidFill>
            <a:srgbClr val="F7ECD9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74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49440" y="4736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Expecting entries to bill instantly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49440" y="510235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must be approved before they become invoiceable acres.</a:t>
            </a:r>
            <a:endParaRPr lang="en-US" sz="12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754880" cy="47548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DOCUMENT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3504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guide evolves with the tool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10607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structure changes — new registers, rate rules or invoicing steps — this deck is updated and re-shared.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rules: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the registers up first, Location last.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Farmer rate → 0% Bill of Supply · Client rate → 18% Tax Invoice.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 a rate = add a new dated row, never edit the old one.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CFE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before it can be invoiced.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 Cloud  ·  Workflow Guide v1.0  ·  30 Jul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2026-07-29T20:11:03Z</dcterms:created>
  <dcterms:modified xsi:type="dcterms:W3CDTF">2026-07-29T20:11:03Z</dcterms:modified>
</cp:coreProperties>
</file>