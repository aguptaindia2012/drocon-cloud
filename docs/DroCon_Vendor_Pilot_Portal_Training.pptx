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guide for vendors to onboard their pilots on the DroCon Cloud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DroCon sets up and approves; the vendor manages pilots and invoicing; the pilot reports from the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steps. Amber steps need DroCon. The rest are vendor/pilot.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 chain: DroCon invites vendor; vendor adds pilot + requests login; DroCon approves; pilot signs up with the same email.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Pilot reporting: date, assigned location, a row per farmer, submit. Rates auto-applied by DroCon.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Vendor reviews/corrects and passes; DroCon approves and posts at the agreed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Field issues: pilot raises, all parties discuss on a thread, vendor/DroCon set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Vendor invoicing: period → approved acres at DroCon rate → generate (plain/unbranded) → DroCon approves → payment.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six DroCon-dependency points — coordinate these with the DroCon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Benefits: single source of truth, live acreage, no duplication, auto rates, faster payment, tracked issues.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reference of daily responsibilities per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G">
    <p:bg>
      <p:bgPr>
        <a:solidFill>
          <a:srgbClr val="F3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120640" cy="5120640"/>
          </a:xfrm>
          <a:prstGeom prst="ellipse">
            <a:avLst/>
          </a:prstGeom>
          <a:solidFill>
            <a:srgbClr val="0E6E7D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3474720"/>
            <a:ext cx="3566160" cy="3566160"/>
          </a:xfrm>
          <a:prstGeom prst="ellipse">
            <a:avLst/>
          </a:prstGeom>
          <a:solidFill>
            <a:srgbClr val="0E4C5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DROCON CLOUD  ·  VENDOR &amp; PILOT PORTAL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" y="17830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acres &amp; invoicing —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guide for vendors and pilots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pilots record acres, how you review and invoice DroCon, and where the DroCon team steps in.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 your pilots for training</a:t>
            </a:r>
            <a:pPr indent="0" marL="0">
              <a:buNone/>
            </a:pPr>
            <a:r>
              <a:rPr lang="en-US" sz="1300" dirty="0">
                <a:solidFill>
                  <a:srgbClr val="9C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v1.0   ·   living document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6E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roles, one flow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93008" cy="4160520"/>
          </a:xfrm>
          <a:prstGeom prst="roundRect">
            <a:avLst>
              <a:gd name="adj" fmla="val 2356"/>
            </a:avLst>
          </a:prstGeom>
          <a:solidFill>
            <a:srgbClr val="F6ECDD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26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DroCon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things up &amp; approves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7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your login, approves pilot logins, assigns pilots to locations, sets rates, approves acres &amp; invoices.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61104" y="1600200"/>
            <a:ext cx="3493008" cy="4160520"/>
          </a:xfrm>
          <a:prstGeom prst="roundRect">
            <a:avLst>
              <a:gd name="adj" fmla="val 2356"/>
            </a:avLst>
          </a:prstGeom>
          <a:solidFill>
            <a:srgbClr val="E4F1F2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9704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6E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(you)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489704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pilots &amp; invoice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9704" y="274320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7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pilots, request their logins, review the acres they report, and raise invoices to DroCon.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73568" y="1600200"/>
            <a:ext cx="3493008" cy="4160520"/>
          </a:xfrm>
          <a:prstGeom prst="roundRect">
            <a:avLst>
              <a:gd name="adj" fmla="val 2356"/>
            </a:avLst>
          </a:prstGeom>
          <a:solidFill>
            <a:srgbClr val="E4F1F2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02168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97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202168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from the field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02168" y="274320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7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in, report the acres sprayed each day, and raise any field issue.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LOGIN TO PAYMENT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6E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end-to-end journey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9300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47088"/>
            <a:ext cx="502920" cy="502920"/>
          </a:xfrm>
          <a:prstGeom prst="ellipse">
            <a:avLst/>
          </a:prstGeom>
          <a:solidFill>
            <a:srgbClr val="B26A16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8836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logins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8096" y="24688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27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DroCon invites the vendor; vendor adds pilots &amp; requests logins; DroCon approves; pilots sign up.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61104" y="1645920"/>
            <a:ext cx="349300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62272" y="1847088"/>
            <a:ext cx="502920" cy="502920"/>
          </a:xfrm>
          <a:prstGeom prst="ellipse">
            <a:avLst/>
          </a:prstGeom>
          <a:solidFill>
            <a:srgbClr val="B26A16"/>
          </a:solidFill>
          <a:ln/>
        </p:spPr>
      </p:sp>
      <p:sp>
        <p:nvSpPr>
          <p:cNvPr id="11" name="Text 9"/>
          <p:cNvSpPr/>
          <p:nvPr/>
        </p:nvSpPr>
        <p:spPr>
          <a:xfrm>
            <a:off x="4462272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84064" y="18836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 &amp; set rates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24688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27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DroCon assigns pilots to locations and sets the crop rates and your vendor payout rates.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73568" y="1645920"/>
            <a:ext cx="349300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74736" y="1847088"/>
            <a:ext cx="502920" cy="502920"/>
          </a:xfrm>
          <a:prstGeom prst="ellipse">
            <a:avLst/>
          </a:prstGeom>
          <a:solidFill>
            <a:srgbClr val="0E6E7D"/>
          </a:solidFill>
          <a:ln/>
        </p:spPr>
      </p:sp>
      <p:sp>
        <p:nvSpPr>
          <p:cNvPr id="16" name="Text 14"/>
          <p:cNvSpPr/>
          <p:nvPr/>
        </p:nvSpPr>
        <p:spPr>
          <a:xfrm>
            <a:off x="8174736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796528" y="18836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Pilots report acres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93024" y="24688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27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pilot logs the day's acres — farmer, village, crop, acres, GPS.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49300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995928"/>
            <a:ext cx="502920" cy="502920"/>
          </a:xfrm>
          <a:prstGeom prst="ellipse">
            <a:avLst/>
          </a:prstGeom>
          <a:solidFill>
            <a:srgbClr val="0E6E7D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995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40325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reviews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8096" y="46177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27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check/correct the acres and pass them to DroCon.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261104" y="3794760"/>
            <a:ext cx="349300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62272" y="3995928"/>
            <a:ext cx="502920" cy="502920"/>
          </a:xfrm>
          <a:prstGeom prst="ellipse">
            <a:avLst/>
          </a:prstGeom>
          <a:solidFill>
            <a:srgbClr val="0E6E7D"/>
          </a:solidFill>
          <a:ln/>
        </p:spPr>
      </p:sp>
      <p:sp>
        <p:nvSpPr>
          <p:cNvPr id="26" name="Text 24"/>
          <p:cNvSpPr/>
          <p:nvPr/>
        </p:nvSpPr>
        <p:spPr>
          <a:xfrm>
            <a:off x="4462272" y="3995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84064" y="40325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DroCon approves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80560" y="46177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27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DroCon approves; the acres post to the tracker at the agreed rate.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973568" y="3794760"/>
            <a:ext cx="3493008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74736" y="3995928"/>
            <a:ext cx="502920" cy="502920"/>
          </a:xfrm>
          <a:prstGeom prst="ellipse">
            <a:avLst/>
          </a:prstGeom>
          <a:solidFill>
            <a:srgbClr val="0E6E7D"/>
          </a:solidFill>
          <a:ln/>
        </p:spPr>
      </p:sp>
      <p:sp>
        <p:nvSpPr>
          <p:cNvPr id="31" name="Text 29"/>
          <p:cNvSpPr/>
          <p:nvPr/>
        </p:nvSpPr>
        <p:spPr>
          <a:xfrm>
            <a:off x="8174736" y="3995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796528" y="40325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 &amp; get paid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193024" y="46177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27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invoice DroCon for approved acres; DroCon approves → payment.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2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 &amp; 2 (amber) need the DroCon team; steps 3–6 are you and your pilots.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ONCE PER PILOT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6E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getting everyone a login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92224"/>
            <a:ext cx="457200" cy="457200"/>
          </a:xfrm>
          <a:prstGeom prst="ellipse">
            <a:avLst/>
          </a:prstGeom>
          <a:solidFill>
            <a:srgbClr val="B26A16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645920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DroCon invites the vendor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052560" y="164592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B2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DroCon team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660904"/>
            <a:ext cx="457200" cy="457200"/>
          </a:xfrm>
          <a:prstGeom prst="ellipse">
            <a:avLst/>
          </a:prstGeom>
          <a:solidFill>
            <a:srgbClr val="0E6E7D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514600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adds each pilot (name, mobile, RPC, UIN)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052560" y="251460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E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529584"/>
            <a:ext cx="457200" cy="457200"/>
          </a:xfrm>
          <a:prstGeom prst="ellipse">
            <a:avLst/>
          </a:prstGeom>
          <a:solidFill>
            <a:srgbClr val="0E6E7D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3383280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clicks “Request login” + enters the pilot's email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052560" y="338328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E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51960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4398264"/>
            <a:ext cx="457200" cy="457200"/>
          </a:xfrm>
          <a:prstGeom prst="ellipse">
            <a:avLst/>
          </a:prstGeom>
          <a:solidFill>
            <a:srgbClr val="B26A16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4251960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DroCon approves the pilot login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052560" y="425196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B2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DroCon team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120640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5266944"/>
            <a:ext cx="457200" cy="457200"/>
          </a:xfrm>
          <a:prstGeom prst="ellipse">
            <a:avLst/>
          </a:prstGeom>
          <a:solidFill>
            <a:srgbClr val="2E97A7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66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71600" y="5120640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opens the app → “Create account” with that exact email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052560" y="512064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E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WORKING 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6E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a pilot reports acres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76656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2E97A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“Report Acres”.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411480" cy="411480"/>
          </a:xfrm>
          <a:prstGeom prst="ellipse">
            <a:avLst/>
          </a:prstGeom>
          <a:solidFill>
            <a:srgbClr val="2E97A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78892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date and the location (only your assigned locations show).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3749040"/>
            <a:ext cx="411480" cy="411480"/>
          </a:xfrm>
          <a:prstGeom prst="ellipse">
            <a:avLst/>
          </a:prstGeom>
          <a:solidFill>
            <a:srgbClr val="2E97A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370332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row per farmer: name, contact, village, crop, medicine, acres, GPS.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22960" y="4663440"/>
            <a:ext cx="411480" cy="411480"/>
          </a:xfrm>
          <a:prstGeom prst="ellipse">
            <a:avLst/>
          </a:prstGeom>
          <a:solidFill>
            <a:srgbClr val="2E97A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663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461772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— it goes to your vendor for review.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498080" y="1554480"/>
            <a:ext cx="4114800" cy="4297680"/>
          </a:xfrm>
          <a:prstGeom prst="roundRect">
            <a:avLst>
              <a:gd name="adj" fmla="val 2000"/>
            </a:avLst>
          </a:prstGeom>
          <a:solidFill>
            <a:srgbClr val="E4F1F2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2668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E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to know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26680" y="2194560"/>
            <a:ext cx="3703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 don't set rates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627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DroCon's agreed rate is applied automatically.
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location showing?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627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DroCon to assign you.
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back?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627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it and resubmit — the reason is shown.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VENDOR, THEN DROCON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6E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4 &amp; 5 — review and approval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E4F1F2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6E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— Acre Review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report your pilots submit.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the acres if needed.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“Pass to DroCon” to send it on, or “Send back” to the pilot with a reason.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35040" y="3429000"/>
            <a:ext cx="457200" cy="457200"/>
          </a:xfrm>
          <a:prstGeom prst="rightArrow">
            <a:avLst/>
          </a:prstGeom>
          <a:solidFill>
            <a:srgbClr val="B26A16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0" y="1600200"/>
            <a:ext cx="5029200" cy="4114800"/>
          </a:xfrm>
          <a:prstGeom prst="roundRect">
            <a:avLst>
              <a:gd name="adj" fmla="val 2000"/>
            </a:avLst>
          </a:prstGeom>
          <a:solidFill>
            <a:srgbClr val="F6ECDD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1228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26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DroCon — Pilot Acres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12280" y="2331720"/>
            <a:ext cx="4617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DroCon checks correctness and the rate.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approval the acres post to the tracker at the agreed rate — now they are billable.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i="1" dirty="0">
                <a:solidFill>
                  <a:srgbClr val="B2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acreage of record.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PILOT, ANY 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6E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a field issue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 raise issues — </a:t>
            </a:r>
            <a:pPr indent="0" marL="0">
              <a:buNone/>
            </a:pPr>
            <a:r>
              <a:rPr lang="en-US" sz="1500" dirty="0">
                <a:solidFill>
                  <a:srgbClr val="627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drone, chemical, access, farmer, weather, payment or other — with a severity and details. You and DroCon see it, discuss on a shared thread, and set the status: </a:t>
            </a:r>
            <a:pPr indent="0" marL="0">
              <a:buNone/>
            </a:pPr>
            <a:r>
              <a:rPr lang="en-US" sz="1500" b="1" dirty="0">
                <a:solidFill>
                  <a:srgbClr val="0E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→ In review → Resolved → Closed.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3493008" cy="2103120"/>
          </a:xfrm>
          <a:prstGeom prst="roundRect">
            <a:avLst>
              <a:gd name="adj" fmla="val 3913"/>
            </a:avLst>
          </a:prstGeom>
          <a:solidFill>
            <a:srgbClr val="E4F1F2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3886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6E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43891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7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the issue from the field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61104" y="3657600"/>
            <a:ext cx="3493008" cy="2103120"/>
          </a:xfrm>
          <a:prstGeom prst="roundRect">
            <a:avLst>
              <a:gd name="adj" fmla="val 3913"/>
            </a:avLst>
          </a:prstGeom>
          <a:solidFill>
            <a:srgbClr val="E4F1F2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9704" y="3886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6E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89704" y="43891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7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and helps resolve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73568" y="3657600"/>
            <a:ext cx="3493008" cy="2103120"/>
          </a:xfrm>
          <a:prstGeom prst="roundRect">
            <a:avLst>
              <a:gd name="adj" fmla="val 3913"/>
            </a:avLst>
          </a:prstGeom>
          <a:solidFill>
            <a:srgbClr val="E4F1F2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02168" y="3886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6E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DroCon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02168" y="43891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7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and closes it out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PAID FOR APPROVED ACRES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6E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 — invoicing DroCon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65376"/>
            <a:ext cx="475488" cy="475488"/>
          </a:xfrm>
          <a:prstGeom prst="ellipse">
            <a:avLst/>
          </a:prstGeom>
          <a:solidFill>
            <a:srgbClr val="0E6E7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65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755648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 DroCon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92040" y="1755648"/>
            <a:ext cx="6537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27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period; the portal lists your approved, not-yet-invoiced acres at the DroCon rate.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706624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926080"/>
            <a:ext cx="475488" cy="475488"/>
          </a:xfrm>
          <a:prstGeom prst="ellipse">
            <a:avLst/>
          </a:prstGeom>
          <a:solidFill>
            <a:srgbClr val="0E6E7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26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816352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&amp; generate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2816352"/>
            <a:ext cx="6537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27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the rows and generate — acres already invoiced can't be picked again.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767328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986784"/>
            <a:ext cx="475488" cy="475488"/>
          </a:xfrm>
          <a:prstGeom prst="ellipse">
            <a:avLst/>
          </a:prstGeom>
          <a:solidFill>
            <a:srgbClr val="0E6E7D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86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877056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 invoice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92040" y="3877056"/>
            <a:ext cx="6537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27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/ save as PDF or export to Excel. The template is unbranded — paste it on your letterhead if you prefer.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828032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047488"/>
            <a:ext cx="475488" cy="475488"/>
          </a:xfrm>
          <a:prstGeom prst="ellipse">
            <a:avLst/>
          </a:prstGeom>
          <a:solidFill>
            <a:srgbClr val="B26A1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47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4937760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DroCon approves → payment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92040" y="4937760"/>
            <a:ext cx="6537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27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DroCon approves; it becomes a payable and is paid per your terms.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E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rate is set by DroCon per location &amp; crop — invoices compute themselves, so there's nothing to calculate by hand.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THESE MOVING WITH DROCON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6E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DroCon team steps in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6ECDD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29968"/>
            <a:ext cx="457200" cy="457200"/>
          </a:xfrm>
          <a:prstGeom prst="ellipse">
            <a:avLst/>
          </a:prstGeom>
          <a:solidFill>
            <a:srgbClr val="B26A16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828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your vendor login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325880" y="230428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2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can start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6ECDD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73368" y="2029968"/>
            <a:ext cx="457200" cy="457200"/>
          </a:xfrm>
          <a:prstGeom prst="ellipse">
            <a:avLst/>
          </a:prstGeom>
          <a:solidFill>
            <a:srgbClr val="B26A16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49440" y="1828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each pilot login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0" y="230428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2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pilot can sign in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6ECDD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447288"/>
            <a:ext cx="457200" cy="457200"/>
          </a:xfrm>
          <a:prstGeom prst="ellipse">
            <a:avLst/>
          </a:prstGeom>
          <a:solidFill>
            <a:srgbClr val="B26A16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246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 pilots to locations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325880" y="37216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2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pilot can report there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06324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6ECDD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73368" y="3447288"/>
            <a:ext cx="457200" cy="457200"/>
          </a:xfrm>
          <a:prstGeom prst="ellipse">
            <a:avLst/>
          </a:prstGeom>
          <a:solidFill>
            <a:srgbClr val="B26A16"/>
          </a:solidFill>
          <a:ln/>
        </p:spPr>
      </p:sp>
      <p:sp>
        <p:nvSpPr>
          <p:cNvPr id="21" name="Text 19"/>
          <p:cNvSpPr/>
          <p:nvPr/>
        </p:nvSpPr>
        <p:spPr>
          <a:xfrm>
            <a:off x="6373368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0" y="3246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crop &amp; vendor rates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949440" y="37216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2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invoicing works correctly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6ECDD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4864608"/>
            <a:ext cx="457200" cy="457200"/>
          </a:xfrm>
          <a:prstGeom prst="ellipse">
            <a:avLst/>
          </a:prstGeom>
          <a:solidFill>
            <a:srgbClr val="B26A16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864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25880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pilot acre reports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325880" y="51389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2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acres billable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72200" y="448056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6ECDD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73368" y="4864608"/>
            <a:ext cx="457200" cy="457200"/>
          </a:xfrm>
          <a:prstGeom prst="ellipse">
            <a:avLst/>
          </a:prstGeom>
          <a:solidFill>
            <a:srgbClr val="B26A16"/>
          </a:solidFill>
          <a:ln/>
        </p:spPr>
      </p:sp>
      <p:sp>
        <p:nvSpPr>
          <p:cNvPr id="31" name="Text 29"/>
          <p:cNvSpPr/>
          <p:nvPr/>
        </p:nvSpPr>
        <p:spPr>
          <a:xfrm>
            <a:off x="6373368" y="4864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49440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your invoices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949440" y="51389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2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trigger payment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BEATS WHATSAPP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6E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helps you manage acreage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93008" cy="1920240"/>
          </a:xfrm>
          <a:prstGeom prst="roundRect">
            <a:avLst>
              <a:gd name="adj" fmla="val 4286"/>
            </a:avLst>
          </a:prstGeom>
          <a:solidFill>
            <a:srgbClr val="E4F1F2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828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E6E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source of truth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68096" y="2514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627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Acres are captured once, by the pilot — no re-typing from WhatsApp, fewer errors and disputes.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4261104" y="1645920"/>
            <a:ext cx="3493008" cy="1920240"/>
          </a:xfrm>
          <a:prstGeom prst="roundRect">
            <a:avLst>
              <a:gd name="adj" fmla="val 4286"/>
            </a:avLst>
          </a:prstGeom>
          <a:solidFill>
            <a:srgbClr val="E4F1F2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828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E6E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acreage view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480560" y="2514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627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Vendor Report shows acres awaiting invoicing, invoiced, and approved — at a glance.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7973568" y="1645920"/>
            <a:ext cx="3493008" cy="1920240"/>
          </a:xfrm>
          <a:prstGeom prst="roundRect">
            <a:avLst>
              <a:gd name="adj" fmla="val 4286"/>
            </a:avLst>
          </a:prstGeom>
          <a:solidFill>
            <a:srgbClr val="E4F1F2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93024" y="1828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E6E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duplication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193024" y="2514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627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and posted acres are visible; the same acre can't be billed twice.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493008" cy="1920240"/>
          </a:xfrm>
          <a:prstGeom prst="roundRect">
            <a:avLst>
              <a:gd name="adj" fmla="val 4286"/>
            </a:avLst>
          </a:prstGeom>
          <a:solidFill>
            <a:srgbClr val="E4F1F2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" y="3977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E6E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Rates handled for you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68096" y="4663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627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DroCon-set rates apply automatically; invoices calculate themselves.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4261104" y="3794760"/>
            <a:ext cx="3493008" cy="1920240"/>
          </a:xfrm>
          <a:prstGeom prst="roundRect">
            <a:avLst>
              <a:gd name="adj" fmla="val 4286"/>
            </a:avLst>
          </a:prstGeom>
          <a:solidFill>
            <a:srgbClr val="E4F1F2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80560" y="3977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E6E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Faster, cleaner payments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480560" y="4663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627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acres flow straight into an invoice and a payable — quicker settlement.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7973568" y="3794760"/>
            <a:ext cx="3493008" cy="1920240"/>
          </a:xfrm>
          <a:prstGeom prst="roundRect">
            <a:avLst>
              <a:gd name="adj" fmla="val 4286"/>
            </a:avLst>
          </a:prstGeom>
          <a:solidFill>
            <a:srgbClr val="E4F1F2"/>
          </a:solidFill>
          <a:ln w="12700">
            <a:solidFill>
              <a:srgbClr val="D8E4E4"/>
            </a:solidFill>
            <a:prstDash val="solid"/>
          </a:ln>
          <a:effectLst>
            <a:outerShdw sx="100000" sy="100000" kx="0" ky="0" algn="bl" rotWithShape="0" blurRad="101600" dist="38100" dir="5400000">
              <a:srgbClr val="09323C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93024" y="3977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E6E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Issues on record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193024" y="4663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627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problems are logged and tracked to resolution, not lost in chat.</a:t>
            </a:r>
            <a:endParaRPr lang="en-US" sz="12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931920"/>
            <a:ext cx="4754880" cy="4754880"/>
          </a:xfrm>
          <a:prstGeom prst="ellipse">
            <a:avLst/>
          </a:prstGeom>
          <a:solidFill>
            <a:srgbClr val="0E6E7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3504" y="1783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person does, every day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1069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Acres · Raise Field Issues
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Vendor: 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 Review → Pass to DroCon · Invoice DroCon · Vendor Report
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DroCon: 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logins · Assign &amp; rate · Approve acres · Approve invoices
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daily, review promptly, and let DroCon's rates and approvals do the maths.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DroCon Cloud · Vendor &amp; Pilot Portal · Training Guide v1.0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2026-07-29T21:57:29Z</dcterms:created>
  <dcterms:modified xsi:type="dcterms:W3CDTF">2026-07-29T21:57:29Z</dcterms:modified>
</cp:coreProperties>
</file>